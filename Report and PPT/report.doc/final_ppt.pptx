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68" r:id="rId2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>
                <a:latin typeface="Times New Roman"/>
              </a:rPr>
              <a:t>FitTrack AI – Privacy Preserving Multi Camera Keypoint Fusion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/>
            <a:r>
              <a:rPr>
                <a:latin typeface="Times New Roman"/>
              </a:rPr>
              <a:t>Harsh Raj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>
                <a:latin typeface="Times New Roman"/>
              </a:rPr>
              <a:t>2210991623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>
                <a:latin typeface="Times New Roman"/>
              </a:rPr>
              <a:t>Dr. Gurpreet Singh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Presentation Agenda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400" dirty="0">
                <a:latin typeface="Times New Roman"/>
              </a:rPr>
              <a:t>• Introduction and Background</a:t>
            </a: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400" dirty="0">
                <a:latin typeface="Times New Roman"/>
              </a:rPr>
              <a:t>• Problem Definition</a:t>
            </a:r>
          </a:p>
          <a:p>
            <a:r>
              <a:rPr sz="1400" dirty="0">
                <a:latin typeface="Times New Roman"/>
              </a:rPr>
              <a:t>• Proposed Solution and Objectives</a:t>
            </a:r>
          </a:p>
          <a:p>
            <a:r>
              <a:rPr sz="1400" dirty="0">
                <a:latin typeface="Times New Roman"/>
              </a:rPr>
              <a:t>• System Requirements</a:t>
            </a:r>
          </a:p>
          <a:p>
            <a:r>
              <a:rPr sz="1400" dirty="0">
                <a:latin typeface="Times New Roman"/>
              </a:rPr>
              <a:t>• Literature Review</a:t>
            </a:r>
          </a:p>
          <a:p>
            <a:r>
              <a:rPr sz="1400" dirty="0">
                <a:latin typeface="Times New Roman"/>
              </a:rPr>
              <a:t>• Methodology &amp; Problem Solving</a:t>
            </a:r>
          </a:p>
          <a:p>
            <a:r>
              <a:rPr sz="1400" dirty="0">
                <a:latin typeface="Times New Roman"/>
              </a:rPr>
              <a:t>• System Design</a:t>
            </a:r>
          </a:p>
          <a:p>
            <a:r>
              <a:rPr sz="1400" dirty="0">
                <a:latin typeface="Times New Roman"/>
              </a:rPr>
              <a:t>• Implementation Details</a:t>
            </a:r>
          </a:p>
          <a:p>
            <a:r>
              <a:rPr sz="1400" dirty="0">
                <a:latin typeface="Times New Roman"/>
              </a:rPr>
              <a:t>• Major Findings and Results</a:t>
            </a:r>
          </a:p>
          <a:p>
            <a:r>
              <a:rPr sz="1400" dirty="0">
                <a:latin typeface="Times New Roman"/>
              </a:rPr>
              <a:t>• Conclusion and Future Scope</a:t>
            </a:r>
            <a:br>
              <a:rPr sz="1400" dirty="0"/>
            </a:br>
            <a:r>
              <a:rPr sz="1400" dirty="0">
                <a:latin typeface="Times New Roman"/>
              </a:rPr>
              <a:t>• Students and home users require affordable solutions.</a:t>
            </a:r>
            <a:br>
              <a:rPr sz="1400" dirty="0"/>
            </a:br>
            <a:r>
              <a:rPr sz="1400" dirty="0">
                <a:latin typeface="Times New Roman"/>
              </a:rPr>
              <a:t>• Privacy-first design increases user trust.</a:t>
            </a:r>
            <a:endParaRPr lang="en-IN" sz="1400" dirty="0">
              <a:latin typeface="Times New Roman"/>
            </a:endParaRPr>
          </a:p>
          <a:p>
            <a:endParaRPr lang="en-IN" sz="1300" dirty="0">
              <a:latin typeface="Times New Roman"/>
            </a:endParaRPr>
          </a:p>
          <a:p>
            <a:endParaRPr lang="en-IN" sz="1300" dirty="0">
              <a:latin typeface="Times New Roman"/>
            </a:endParaRPr>
          </a:p>
          <a:p>
            <a:endParaRPr lang="en-IN" sz="1300" dirty="0">
              <a:latin typeface="Times New Roman"/>
            </a:endParaRPr>
          </a:p>
          <a:p>
            <a:endParaRPr lang="en-IN" sz="1300" dirty="0">
              <a:latin typeface="Times New Roman"/>
            </a:endParaRPr>
          </a:p>
          <a:p>
            <a:endParaRPr lang="en-IN" sz="1300" dirty="0">
              <a:latin typeface="Times New Roman"/>
            </a:endParaRPr>
          </a:p>
          <a:p>
            <a:endParaRPr lang="en-IN" sz="1300" dirty="0">
              <a:latin typeface="Times New Roman"/>
            </a:endParaRPr>
          </a:p>
          <a:p>
            <a:endParaRPr sz="1300" dirty="0">
              <a:latin typeface="Times New Roman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ACA0D935-DC84-887C-A9CF-B84CF7262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599" y="4222142"/>
            <a:ext cx="4504207" cy="1421192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D09EBD40-EF1F-CBD2-6162-6BAACC34DD1D}"/>
              </a:ext>
            </a:extLst>
          </p:cNvPr>
          <p:cNvSpPr txBox="1"/>
          <p:nvPr/>
        </p:nvSpPr>
        <p:spPr>
          <a:xfrm>
            <a:off x="1708189" y="5072931"/>
            <a:ext cx="10972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Introduction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498DB83-77C7-0BD6-3671-7A42589A2798}"/>
              </a:ext>
            </a:extLst>
          </p:cNvPr>
          <p:cNvSpPr txBox="1"/>
          <p:nvPr/>
        </p:nvSpPr>
        <p:spPr>
          <a:xfrm>
            <a:off x="2707233" y="4995986"/>
            <a:ext cx="828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Problem definition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7FE2FF-ED7A-4988-271A-FE5ECA570F40}"/>
              </a:ext>
            </a:extLst>
          </p:cNvPr>
          <p:cNvSpPr txBox="1"/>
          <p:nvPr/>
        </p:nvSpPr>
        <p:spPr>
          <a:xfrm>
            <a:off x="3536051" y="5030376"/>
            <a:ext cx="956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Proposed solution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7F0CDEF-DD3B-1D36-B8D5-EEA6DB6F80BC}"/>
              </a:ext>
            </a:extLst>
          </p:cNvPr>
          <p:cNvSpPr txBox="1"/>
          <p:nvPr/>
        </p:nvSpPr>
        <p:spPr>
          <a:xfrm>
            <a:off x="4449806" y="5061291"/>
            <a:ext cx="871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System requirement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58865A-F1EE-8B32-B4F9-795143FDCC56}"/>
              </a:ext>
            </a:extLst>
          </p:cNvPr>
          <p:cNvSpPr txBox="1"/>
          <p:nvPr/>
        </p:nvSpPr>
        <p:spPr>
          <a:xfrm>
            <a:off x="5321306" y="5072931"/>
            <a:ext cx="871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Literature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17693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400" dirty="0">
                <a:latin typeface="Times New Roman"/>
              </a:rPr>
              <a:t>• The intersection of healthcare, physical fitness, and AI is growing rapidly.</a:t>
            </a: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400" dirty="0">
                <a:latin typeface="Times New Roman"/>
              </a:rPr>
              <a:t>• Standard 2D webcams can now track human movement via marker-less pose estimation.</a:t>
            </a:r>
          </a:p>
          <a:p>
            <a:r>
              <a:rPr sz="1400" dirty="0">
                <a:latin typeface="Times New Roman"/>
              </a:rPr>
              <a:t>• Replicating compound routines at home without a trainer often leads to injury.</a:t>
            </a:r>
          </a:p>
          <a:p>
            <a:r>
              <a:rPr sz="1400" dirty="0">
                <a:latin typeface="Times New Roman"/>
              </a:rPr>
              <a:t>• Cloud-based fitness apps introduce severe vulnerabilities regarding personal data privacy.</a:t>
            </a:r>
          </a:p>
          <a:p>
            <a:br>
              <a:rPr sz="1400" dirty="0"/>
            </a:br>
            <a:r>
              <a:rPr sz="1400" dirty="0">
                <a:latin typeface="Times New Roman"/>
              </a:rPr>
              <a:t>• Traditional systems store sensitive video data online.</a:t>
            </a:r>
            <a:br>
              <a:rPr sz="1400" dirty="0"/>
            </a:br>
            <a:r>
              <a:rPr sz="1400" dirty="0">
                <a:latin typeface="Times New Roman"/>
              </a:rPr>
              <a:t>• </a:t>
            </a:r>
            <a:r>
              <a:rPr sz="1400" dirty="0" err="1">
                <a:latin typeface="Times New Roman"/>
              </a:rPr>
              <a:t>FitTrack</a:t>
            </a:r>
            <a:r>
              <a:rPr sz="1400" dirty="0">
                <a:latin typeface="Times New Roman"/>
              </a:rPr>
              <a:t> AI eliminates cloud dependency risks.</a:t>
            </a:r>
          </a:p>
        </p:txBody>
      </p:sp>
      <p:pic>
        <p:nvPicPr>
          <p:cNvPr id="112" name="Picture 111" descr="bottom_diagram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68" y="3918120"/>
            <a:ext cx="73152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Background &amp; Motivation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300" dirty="0">
                <a:latin typeface="Times New Roman"/>
              </a:rPr>
              <a:t>• </a:t>
            </a:r>
            <a:r>
              <a:rPr sz="1400" dirty="0" err="1">
                <a:latin typeface="Times New Roman"/>
              </a:rPr>
              <a:t>FitTrack</a:t>
            </a:r>
            <a:r>
              <a:rPr sz="1400" dirty="0">
                <a:latin typeface="Times New Roman"/>
              </a:rPr>
              <a:t> AI was motivated by the high prevalence of home-based injuries during heavy lifts.</a:t>
            </a: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400" dirty="0">
                <a:latin typeface="Times New Roman"/>
              </a:rPr>
              <a:t>• Personal trainers are prohibitively expensive for students.</a:t>
            </a:r>
          </a:p>
          <a:p>
            <a:r>
              <a:rPr sz="1400" dirty="0">
                <a:latin typeface="Times New Roman"/>
              </a:rPr>
              <a:t>• There is a critical demand for automated, cost-effective biomechanical analysis that does not compromise user privacy.</a:t>
            </a:r>
          </a:p>
          <a:p>
            <a:br>
              <a:rPr sz="1400" dirty="0"/>
            </a:br>
            <a:r>
              <a:rPr sz="1400" dirty="0">
                <a:latin typeface="Times New Roman"/>
              </a:rPr>
              <a:t>• Lighting conditions should not affect posture accuracy.</a:t>
            </a:r>
            <a:br>
              <a:rPr sz="1400" dirty="0"/>
            </a:br>
            <a:r>
              <a:rPr sz="1400" dirty="0">
                <a:latin typeface="Times New Roman"/>
              </a:rPr>
              <a:t>• Deterministic geometry ensures reliable results.</a:t>
            </a:r>
          </a:p>
        </p:txBody>
      </p:sp>
      <p:pic>
        <p:nvPicPr>
          <p:cNvPr id="112" name="Picture 111" descr="bottom_diagram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40480"/>
            <a:ext cx="73152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Problem Definition: Privacy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400" dirty="0">
                <a:latin typeface="Times New Roman"/>
              </a:rPr>
              <a:t>• Cloud Dependency Risks: Contemporary AI fitness utilities are overwhelmingly cloud-dependent.</a:t>
            </a: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400" dirty="0">
                <a:latin typeface="Times New Roman"/>
              </a:rPr>
              <a:t>• Transmitting video feeds from private residential spaces to third-party servers exposes users to:</a:t>
            </a:r>
          </a:p>
          <a:p>
            <a:r>
              <a:rPr sz="1400" dirty="0">
                <a:latin typeface="Times New Roman"/>
              </a:rPr>
              <a:t>  - Severe risks of data breaches.</a:t>
            </a:r>
          </a:p>
          <a:p>
            <a:r>
              <a:rPr sz="1400" dirty="0">
                <a:latin typeface="Times New Roman"/>
              </a:rPr>
              <a:t>  - Unauthorized corporate data brokering.</a:t>
            </a:r>
          </a:p>
          <a:p>
            <a:r>
              <a:rPr sz="1400" dirty="0">
                <a:latin typeface="Times New Roman"/>
              </a:rPr>
              <a:t>  - Potential biometric surveillance.</a:t>
            </a:r>
          </a:p>
          <a:p>
            <a:br>
              <a:rPr sz="1400" dirty="0"/>
            </a:br>
            <a:r>
              <a:rPr sz="1400" dirty="0">
                <a:latin typeface="Times New Roman"/>
              </a:rPr>
              <a:t>• Fully edge-computed architecture improves speed.</a:t>
            </a:r>
            <a:br>
              <a:rPr sz="1400" dirty="0"/>
            </a:br>
            <a:r>
              <a:rPr sz="1400" dirty="0">
                <a:latin typeface="Times New Roman"/>
              </a:rPr>
              <a:t>• Zero-trust approach guarantees local privacy.</a:t>
            </a:r>
            <a:endParaRPr lang="en-IN" sz="1400" dirty="0">
              <a:latin typeface="Times New Roman"/>
            </a:endParaRPr>
          </a:p>
          <a:p>
            <a:endParaRPr lang="en-IN" sz="1400" dirty="0">
              <a:latin typeface="Times New Roman"/>
            </a:endParaRPr>
          </a:p>
          <a:p>
            <a:endParaRPr lang="en-IN" sz="1400" dirty="0">
              <a:latin typeface="Times New Roman"/>
            </a:endParaRPr>
          </a:p>
          <a:p>
            <a:endParaRPr sz="1400" dirty="0">
              <a:latin typeface="Times New Roman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0C46C2-8EE2-FAEC-335F-0477D1B86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91" y="3792772"/>
            <a:ext cx="8249801" cy="2518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Problem Definition: Accuracy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600" dirty="0">
                <a:latin typeface="Times New Roman"/>
              </a:rPr>
              <a:t>• </a:t>
            </a:r>
            <a:r>
              <a:rPr sz="1400" dirty="0">
                <a:latin typeface="Times New Roman"/>
              </a:rPr>
              <a:t>Detection Confidence ≠ Safety: Standard open-source scripts evaluate performance based on 'Detection Confidence'.</a:t>
            </a: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400" dirty="0">
                <a:latin typeface="Times New Roman"/>
              </a:rPr>
              <a:t>• This metric strictly measures lighting and clarity, not biomechanical safety.</a:t>
            </a:r>
          </a:p>
          <a:p>
            <a:r>
              <a:rPr sz="1400" dirty="0">
                <a:latin typeface="Times New Roman"/>
              </a:rPr>
              <a:t>• Approving a dangerous squat merely because the room is well-lit is harmful to the user.</a:t>
            </a:r>
          </a:p>
          <a:p>
            <a:br>
              <a:rPr sz="1400" dirty="0"/>
            </a:br>
            <a:r>
              <a:rPr sz="1400" dirty="0">
                <a:latin typeface="Times New Roman"/>
              </a:rPr>
              <a:t>• User-friendly interface designed for non-technical users.</a:t>
            </a:r>
            <a:br>
              <a:rPr sz="1400" dirty="0"/>
            </a:br>
            <a:r>
              <a:rPr sz="1400" dirty="0">
                <a:latin typeface="Times New Roman"/>
              </a:rPr>
              <a:t>• Real-time feedback increases training safety.</a:t>
            </a:r>
            <a:endParaRPr lang="en-IN" sz="1400" dirty="0">
              <a:latin typeface="Times New Roman"/>
            </a:endParaRPr>
          </a:p>
          <a:p>
            <a:endParaRPr lang="en-IN" sz="1500" dirty="0">
              <a:latin typeface="Times New Roman"/>
            </a:endParaRPr>
          </a:p>
          <a:p>
            <a:endParaRPr lang="en-IN" sz="1500" dirty="0">
              <a:latin typeface="Times New Roman"/>
            </a:endParaRPr>
          </a:p>
          <a:p>
            <a:endParaRPr sz="1500" dirty="0">
              <a:latin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0E2CFF-E00D-7816-DA0F-6C2F5317C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316" y="3296692"/>
            <a:ext cx="7109889" cy="26516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Proposed Solution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25644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400" dirty="0">
                <a:latin typeface="Times New Roman"/>
              </a:rPr>
              <a:t>• </a:t>
            </a:r>
            <a:r>
              <a:rPr sz="1400" dirty="0" err="1">
                <a:latin typeface="Times New Roman"/>
              </a:rPr>
              <a:t>FitTrack</a:t>
            </a:r>
            <a:r>
              <a:rPr sz="1400" dirty="0">
                <a:latin typeface="Times New Roman"/>
              </a:rPr>
              <a:t> AI is a fully localized, edge-computed software solution.</a:t>
            </a: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400" dirty="0">
                <a:latin typeface="Times New Roman"/>
              </a:rPr>
              <a:t>• Offline-first architecture with no external network calls during inference.</a:t>
            </a:r>
          </a:p>
          <a:p>
            <a:r>
              <a:rPr sz="1400" dirty="0">
                <a:latin typeface="Times New Roman"/>
              </a:rPr>
              <a:t>• Provides structural privacy guarantees.</a:t>
            </a:r>
          </a:p>
          <a:p>
            <a:r>
              <a:rPr sz="1400" dirty="0">
                <a:latin typeface="Times New Roman"/>
              </a:rPr>
              <a:t>• Uses deterministic mathematics to evaluate posture accurately.</a:t>
            </a:r>
          </a:p>
          <a:p>
            <a:br>
              <a:rPr sz="1400" dirty="0"/>
            </a:br>
            <a:r>
              <a:rPr sz="1400" dirty="0">
                <a:latin typeface="Times New Roman"/>
              </a:rPr>
              <a:t>• Efficient CPU-based processing reduces hardware costs.</a:t>
            </a:r>
            <a:br>
              <a:rPr sz="1400" dirty="0"/>
            </a:br>
            <a:r>
              <a:rPr sz="1400" dirty="0">
                <a:latin typeface="Times New Roman"/>
              </a:rPr>
              <a:t>• Optimized for standard consumer devices.</a:t>
            </a:r>
          </a:p>
        </p:txBody>
      </p:sp>
      <p:pic>
        <p:nvPicPr>
          <p:cNvPr id="111" name="Picture 1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9092" y="3593988"/>
            <a:ext cx="3454630" cy="26581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Key Project Objectives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52640" y="129397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400" dirty="0">
                <a:latin typeface="Times New Roman"/>
              </a:rPr>
              <a:t>• Extract only numerical landmarks and purge image matrices instantly.</a:t>
            </a: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400" dirty="0">
                <a:latin typeface="Times New Roman"/>
              </a:rPr>
              <a:t>• Use deterministic trigonometric algorithms for joint angle analysis.</a:t>
            </a:r>
          </a:p>
          <a:p>
            <a:r>
              <a:rPr sz="1400" dirty="0">
                <a:latin typeface="Times New Roman"/>
              </a:rPr>
              <a:t>• Build an accessible </a:t>
            </a:r>
            <a:r>
              <a:rPr sz="1400" dirty="0" err="1">
                <a:latin typeface="Times New Roman"/>
              </a:rPr>
              <a:t>Streamlit</a:t>
            </a:r>
            <a:r>
              <a:rPr sz="1400" dirty="0">
                <a:latin typeface="Times New Roman"/>
              </a:rPr>
              <a:t>-based UI for real-time feedback.</a:t>
            </a:r>
          </a:p>
          <a:p>
            <a:br>
              <a:rPr sz="1400" dirty="0"/>
            </a:br>
            <a:r>
              <a:rPr sz="1400" dirty="0">
                <a:latin typeface="Times New Roman"/>
              </a:rPr>
              <a:t>• Comparative analysis performed on modern pose systems.</a:t>
            </a:r>
            <a:br>
              <a:rPr sz="1400" dirty="0"/>
            </a:br>
            <a:r>
              <a:rPr sz="1400" dirty="0">
                <a:latin typeface="Times New Roman"/>
              </a:rPr>
              <a:t>• Lightweight </a:t>
            </a:r>
            <a:r>
              <a:rPr sz="1400" dirty="0" err="1">
                <a:latin typeface="Times New Roman"/>
              </a:rPr>
              <a:t>MediaPipe</a:t>
            </a:r>
            <a:r>
              <a:rPr sz="1400" dirty="0">
                <a:latin typeface="Times New Roman"/>
              </a:rPr>
              <a:t> selected after evaluation.</a:t>
            </a:r>
          </a:p>
        </p:txBody>
      </p:sp>
      <p:pic>
        <p:nvPicPr>
          <p:cNvPr id="111" name="Picture 1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45577" y="3713258"/>
            <a:ext cx="4513964" cy="18685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System Requirements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400" dirty="0">
                <a:latin typeface="Times New Roman"/>
              </a:rPr>
              <a:t>• Intel Core i5 recommended with 8GB RAM.</a:t>
            </a: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400" dirty="0">
                <a:latin typeface="Times New Roman"/>
              </a:rPr>
              <a:t>• Uses Python 3.9+, </a:t>
            </a:r>
            <a:r>
              <a:rPr sz="1400" dirty="0" err="1">
                <a:latin typeface="Times New Roman"/>
              </a:rPr>
              <a:t>Streamlit</a:t>
            </a:r>
            <a:r>
              <a:rPr sz="1400" dirty="0">
                <a:latin typeface="Times New Roman"/>
              </a:rPr>
              <a:t>, </a:t>
            </a:r>
            <a:r>
              <a:rPr sz="1400" dirty="0" err="1">
                <a:latin typeface="Times New Roman"/>
              </a:rPr>
              <a:t>MediaPipe</a:t>
            </a:r>
            <a:r>
              <a:rPr sz="1400" dirty="0">
                <a:latin typeface="Times New Roman"/>
              </a:rPr>
              <a:t>, OpenCV, NumPy.</a:t>
            </a:r>
          </a:p>
          <a:p>
            <a:r>
              <a:rPr sz="1400" dirty="0">
                <a:latin typeface="Times New Roman"/>
              </a:rPr>
              <a:t>• Supports 720p/1080p webcam input.</a:t>
            </a:r>
          </a:p>
          <a:p>
            <a:r>
              <a:rPr sz="1400" dirty="0">
                <a:latin typeface="Times New Roman"/>
              </a:rPr>
              <a:t>• Lightweight CPU-based execution.</a:t>
            </a:r>
          </a:p>
          <a:p>
            <a:br>
              <a:rPr sz="1400" dirty="0"/>
            </a:br>
            <a:r>
              <a:rPr sz="1400" dirty="0">
                <a:latin typeface="Times New Roman"/>
              </a:rPr>
              <a:t>• Mathematical calculations improve posture validation.</a:t>
            </a:r>
            <a:br>
              <a:rPr sz="1400" dirty="0"/>
            </a:br>
            <a:r>
              <a:rPr sz="1400" dirty="0">
                <a:latin typeface="Times New Roman"/>
              </a:rPr>
              <a:t>• Modular design supports future scalability.</a:t>
            </a:r>
          </a:p>
        </p:txBody>
      </p:sp>
      <p:pic>
        <p:nvPicPr>
          <p:cNvPr id="113" name="Picture 1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1745" y="3429000"/>
            <a:ext cx="3815015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Literature Review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400" dirty="0">
                <a:latin typeface="Times New Roman"/>
              </a:rPr>
              <a:t>• Compared IMU sensors, depth cameras, YOLO, </a:t>
            </a:r>
            <a:r>
              <a:rPr sz="1400" dirty="0" err="1">
                <a:latin typeface="Times New Roman"/>
              </a:rPr>
              <a:t>OpenPose</a:t>
            </a:r>
            <a:r>
              <a:rPr sz="1400" dirty="0">
                <a:latin typeface="Times New Roman"/>
              </a:rPr>
              <a:t>, and </a:t>
            </a:r>
            <a:r>
              <a:rPr sz="1400" dirty="0" err="1">
                <a:latin typeface="Times New Roman"/>
              </a:rPr>
              <a:t>MediaPipe</a:t>
            </a:r>
            <a:r>
              <a:rPr sz="1400" dirty="0">
                <a:latin typeface="Times New Roman"/>
              </a:rPr>
              <a:t>.</a:t>
            </a: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400" dirty="0">
                <a:latin typeface="Times New Roman"/>
              </a:rPr>
              <a:t>• </a:t>
            </a:r>
            <a:r>
              <a:rPr sz="1400" dirty="0" err="1">
                <a:latin typeface="Times New Roman"/>
              </a:rPr>
              <a:t>MediaPipe</a:t>
            </a:r>
            <a:r>
              <a:rPr sz="1400" dirty="0">
                <a:latin typeface="Times New Roman"/>
              </a:rPr>
              <a:t> selected due to lightweight CPU optimization.</a:t>
            </a:r>
          </a:p>
          <a:p>
            <a:r>
              <a:rPr sz="1400" dirty="0">
                <a:latin typeface="Times New Roman"/>
              </a:rPr>
              <a:t>• Existing cloud systems create privacy and latency issues.</a:t>
            </a:r>
          </a:p>
          <a:p>
            <a:r>
              <a:rPr sz="1400" dirty="0">
                <a:latin typeface="Times New Roman"/>
              </a:rPr>
              <a:t>• </a:t>
            </a:r>
            <a:r>
              <a:rPr sz="1400" dirty="0" err="1">
                <a:latin typeface="Times New Roman"/>
              </a:rPr>
              <a:t>FitTrack</a:t>
            </a:r>
            <a:r>
              <a:rPr sz="1400" dirty="0">
                <a:latin typeface="Times New Roman"/>
              </a:rPr>
              <a:t> AI resolves both privacy and biomechanical accuracy concerns.</a:t>
            </a:r>
          </a:p>
          <a:p>
            <a:br>
              <a:rPr sz="1400" dirty="0"/>
            </a:br>
            <a:r>
              <a:rPr sz="1400" dirty="0">
                <a:latin typeface="Times New Roman"/>
              </a:rPr>
              <a:t>• Four-layer architecture improves maintainability.</a:t>
            </a:r>
            <a:br>
              <a:rPr sz="1400" dirty="0"/>
            </a:br>
            <a:r>
              <a:rPr sz="1400" dirty="0">
                <a:latin typeface="Times New Roman"/>
              </a:rPr>
              <a:t>• Memory management prevents data persistence.</a:t>
            </a:r>
          </a:p>
        </p:txBody>
      </p:sp>
      <p:pic>
        <p:nvPicPr>
          <p:cNvPr id="113" name="Picture 112" descr="bottom_diagram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40480"/>
            <a:ext cx="73152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400" dirty="0">
                <a:latin typeface="Times New Roman"/>
              </a:rPr>
              <a:t>• Offline-first privacy-by-design architecture.</a:t>
            </a: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400" dirty="0">
                <a:latin typeface="Times New Roman"/>
              </a:rPr>
              <a:t>• Transitioned from confidence-based evaluation to Euclidean geometry.</a:t>
            </a:r>
          </a:p>
          <a:p>
            <a:r>
              <a:rPr sz="1400" dirty="0">
                <a:latin typeface="Times New Roman"/>
              </a:rPr>
              <a:t>• Uses </a:t>
            </a:r>
            <a:r>
              <a:rPr sz="1400" dirty="0" err="1">
                <a:latin typeface="Times New Roman"/>
              </a:rPr>
              <a:t>keypoint</a:t>
            </a:r>
            <a:r>
              <a:rPr sz="1400" dirty="0">
                <a:latin typeface="Times New Roman"/>
              </a:rPr>
              <a:t> coordinate extraction and trigonometric calculations.</a:t>
            </a:r>
          </a:p>
          <a:p>
            <a:r>
              <a:rPr sz="1400" dirty="0">
                <a:latin typeface="Times New Roman"/>
              </a:rPr>
              <a:t>• Modular architecture separates frontend and backend logic.</a:t>
            </a:r>
          </a:p>
          <a:p>
            <a:br>
              <a:rPr sz="1400" dirty="0"/>
            </a:br>
            <a:r>
              <a:rPr sz="1400" dirty="0">
                <a:latin typeface="Times New Roman"/>
              </a:rPr>
              <a:t>• atan2 function provides stable angle computation.</a:t>
            </a:r>
            <a:br>
              <a:rPr sz="1400" dirty="0"/>
            </a:br>
            <a:r>
              <a:rPr sz="1400" dirty="0">
                <a:latin typeface="Times New Roman"/>
              </a:rPr>
              <a:t>• Accurate angle correction handles edge cases.</a:t>
            </a:r>
          </a:p>
        </p:txBody>
      </p:sp>
      <p:pic>
        <p:nvPicPr>
          <p:cNvPr id="111" name="Picture 1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3444" y="3429000"/>
            <a:ext cx="4677769" cy="19309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System Architecture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400" dirty="0">
                <a:latin typeface="Times New Roman"/>
              </a:rPr>
              <a:t>• Layer 1: </a:t>
            </a:r>
            <a:r>
              <a:rPr sz="1400" dirty="0" err="1">
                <a:latin typeface="Times New Roman"/>
              </a:rPr>
              <a:t>Streamlit</a:t>
            </a:r>
            <a:r>
              <a:rPr sz="1400" dirty="0">
                <a:latin typeface="Times New Roman"/>
              </a:rPr>
              <a:t> UI Layer.</a:t>
            </a: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400" dirty="0">
                <a:latin typeface="Times New Roman"/>
              </a:rPr>
              <a:t>• Layer 2: </a:t>
            </a:r>
            <a:r>
              <a:rPr sz="1400" dirty="0" err="1">
                <a:latin typeface="Times New Roman"/>
              </a:rPr>
              <a:t>MediaPipe</a:t>
            </a:r>
            <a:r>
              <a:rPr sz="1400" dirty="0">
                <a:latin typeface="Times New Roman"/>
              </a:rPr>
              <a:t> Vision Engine.</a:t>
            </a:r>
          </a:p>
          <a:p>
            <a:r>
              <a:rPr sz="1400" dirty="0">
                <a:latin typeface="Times New Roman"/>
              </a:rPr>
              <a:t>• Layer 3: Geometry Evaluation Core.</a:t>
            </a:r>
          </a:p>
          <a:p>
            <a:r>
              <a:rPr sz="1400" dirty="0">
                <a:latin typeface="Times New Roman"/>
              </a:rPr>
              <a:t>• Layer 4: Memory Management and Security.</a:t>
            </a:r>
          </a:p>
          <a:p>
            <a:r>
              <a:rPr sz="1400" dirty="0">
                <a:latin typeface="Times New Roman"/>
              </a:rPr>
              <a:t>• Ensures secure and efficient posture analysis.</a:t>
            </a:r>
          </a:p>
          <a:p>
            <a:br>
              <a:rPr sz="1400" dirty="0"/>
            </a:br>
            <a:r>
              <a:rPr sz="1400" dirty="0">
                <a:latin typeface="Times New Roman"/>
              </a:rPr>
              <a:t>• </a:t>
            </a:r>
            <a:r>
              <a:rPr sz="1400" dirty="0" err="1">
                <a:latin typeface="Times New Roman"/>
              </a:rPr>
              <a:t>Streamlit</a:t>
            </a:r>
            <a:r>
              <a:rPr sz="1400" dirty="0">
                <a:latin typeface="Times New Roman"/>
              </a:rPr>
              <a:t> frontend improves usability.</a:t>
            </a:r>
            <a:br>
              <a:rPr sz="1400" dirty="0"/>
            </a:br>
            <a:r>
              <a:rPr sz="1400" dirty="0">
                <a:latin typeface="Times New Roman"/>
              </a:rPr>
              <a:t>• OpenCV visualization enhances posture understanding</a:t>
            </a:r>
            <a:r>
              <a:rPr sz="1500" dirty="0">
                <a:latin typeface="Times New Roman"/>
              </a:rPr>
              <a:t>.</a:t>
            </a:r>
          </a:p>
        </p:txBody>
      </p:sp>
      <p:pic>
        <p:nvPicPr>
          <p:cNvPr id="112" name="Picture 1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43043" y="3714017"/>
            <a:ext cx="5457914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Mathematical Engine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600" dirty="0">
                <a:latin typeface="Times New Roman"/>
              </a:rPr>
              <a:t>• </a:t>
            </a:r>
            <a:r>
              <a:rPr sz="1400" dirty="0">
                <a:latin typeface="Times New Roman"/>
              </a:rPr>
              <a:t>Uses math.atan2 for stable angle calculations.</a:t>
            </a: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400" dirty="0">
                <a:latin typeface="Times New Roman"/>
              </a:rPr>
              <a:t>• Calculates hip, knee, and ankle flexion angles.</a:t>
            </a:r>
          </a:p>
          <a:p>
            <a:r>
              <a:rPr sz="1400" dirty="0">
                <a:latin typeface="Times New Roman"/>
              </a:rPr>
              <a:t>• Corrects reflex angles greater than 180°.</a:t>
            </a:r>
          </a:p>
          <a:p>
            <a:r>
              <a:rPr sz="1400" dirty="0">
                <a:latin typeface="Times New Roman"/>
              </a:rPr>
              <a:t>• Provides deterministic posture analysis independent of lighting.</a:t>
            </a:r>
          </a:p>
          <a:p>
            <a:br>
              <a:rPr sz="1400" dirty="0"/>
            </a:br>
            <a:r>
              <a:rPr sz="1400" dirty="0">
                <a:latin typeface="Times New Roman"/>
              </a:rPr>
              <a:t>• Real-time alerts successfully detect dangerous posture.</a:t>
            </a:r>
            <a:br>
              <a:rPr sz="1400" dirty="0"/>
            </a:br>
            <a:r>
              <a:rPr sz="1400" dirty="0">
                <a:latin typeface="Times New Roman"/>
              </a:rPr>
              <a:t>• Fast inference enables smooth user experience.</a:t>
            </a:r>
            <a:endParaRPr lang="en-IN" sz="1400" dirty="0">
              <a:latin typeface="Times New Roman"/>
            </a:endParaRPr>
          </a:p>
          <a:p>
            <a:endParaRPr lang="en-IN" sz="1500" dirty="0">
              <a:latin typeface="Times New Roman"/>
            </a:endParaRPr>
          </a:p>
          <a:p>
            <a:endParaRPr lang="en-IN" sz="1500" dirty="0">
              <a:latin typeface="Times New Roman"/>
            </a:endParaRPr>
          </a:p>
          <a:p>
            <a:endParaRPr lang="en-IN" sz="1500" dirty="0">
              <a:latin typeface="Times New Roman"/>
            </a:endParaRPr>
          </a:p>
          <a:p>
            <a:endParaRPr lang="en-IN" sz="1500" dirty="0">
              <a:latin typeface="Times New Roman"/>
            </a:endParaRPr>
          </a:p>
          <a:p>
            <a:endParaRPr sz="1500" dirty="0">
              <a:latin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707A3B-611F-60AA-D522-EF6DF69C5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095" y="3275937"/>
            <a:ext cx="5413419" cy="27297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Implementation Details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400" dirty="0">
                <a:latin typeface="Times New Roman"/>
              </a:rPr>
              <a:t>• Developed using Python and </a:t>
            </a:r>
            <a:r>
              <a:rPr sz="1400" dirty="0" err="1">
                <a:latin typeface="Times New Roman"/>
              </a:rPr>
              <a:t>Streamlit</a:t>
            </a:r>
            <a:r>
              <a:rPr sz="1400" dirty="0">
                <a:latin typeface="Times New Roman"/>
              </a:rPr>
              <a:t>.</a:t>
            </a: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400" dirty="0">
                <a:latin typeface="Times New Roman"/>
              </a:rPr>
              <a:t>• </a:t>
            </a:r>
            <a:r>
              <a:rPr sz="1400" dirty="0" err="1">
                <a:latin typeface="Times New Roman"/>
              </a:rPr>
              <a:t>MediaPipe</a:t>
            </a:r>
            <a:r>
              <a:rPr sz="1400" dirty="0">
                <a:latin typeface="Times New Roman"/>
              </a:rPr>
              <a:t> extracts 33-point skeletal topology.</a:t>
            </a:r>
          </a:p>
          <a:p>
            <a:r>
              <a:rPr sz="1400" dirty="0">
                <a:latin typeface="Times New Roman"/>
              </a:rPr>
              <a:t>• OpenCV handles image processing and rendering.</a:t>
            </a:r>
          </a:p>
          <a:p>
            <a:r>
              <a:rPr sz="1400" dirty="0">
                <a:latin typeface="Times New Roman"/>
              </a:rPr>
              <a:t>• NumPy manages coordinate arrays and calculations.</a:t>
            </a:r>
          </a:p>
          <a:p>
            <a:br>
              <a:rPr sz="1400" dirty="0"/>
            </a:br>
            <a:r>
              <a:rPr sz="1400" dirty="0">
                <a:latin typeface="Times New Roman"/>
              </a:rPr>
              <a:t>• Extensive testing improved robustness.</a:t>
            </a:r>
            <a:br>
              <a:rPr sz="1400" dirty="0"/>
            </a:br>
            <a:r>
              <a:rPr sz="1400" dirty="0">
                <a:latin typeface="Times New Roman"/>
              </a:rPr>
              <a:t>• Graceful error handling prevents crashes.</a:t>
            </a:r>
            <a:endParaRPr lang="en-IN" sz="1400" dirty="0">
              <a:latin typeface="Times New Roman"/>
            </a:endParaRPr>
          </a:p>
          <a:p>
            <a:endParaRPr lang="en-IN" sz="1400" dirty="0">
              <a:latin typeface="Times New Roman"/>
            </a:endParaRPr>
          </a:p>
          <a:p>
            <a:endParaRPr sz="1400" dirty="0">
              <a:latin typeface="Times New Roman"/>
            </a:endParaRPr>
          </a:p>
        </p:txBody>
      </p:sp>
      <p:pic>
        <p:nvPicPr>
          <p:cNvPr id="113" name="Picture 112" descr="bottom_diagram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753" y="1322247"/>
            <a:ext cx="4206239" cy="14020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8E897F-B82E-0E1A-DCA4-6B72F00D22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242" y="3396586"/>
            <a:ext cx="5465516" cy="21391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Major Findings &amp; Results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400" dirty="0">
                <a:latin typeface="Times New Roman"/>
              </a:rPr>
              <a:t>• Accurate squat posture detection achieved.</a:t>
            </a: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400" dirty="0">
                <a:latin typeface="Times New Roman"/>
              </a:rPr>
              <a:t>• Safe squat detected at Knee Angle ≈ 104.7°.</a:t>
            </a:r>
          </a:p>
          <a:p>
            <a:r>
              <a:rPr sz="1400" dirty="0">
                <a:latin typeface="Times New Roman"/>
              </a:rPr>
              <a:t>• Dangerous spinal collapse detected at Hip Angle &lt; 70°.</a:t>
            </a:r>
          </a:p>
          <a:p>
            <a:r>
              <a:rPr sz="1400" dirty="0">
                <a:latin typeface="Times New Roman"/>
              </a:rPr>
              <a:t>• Entire inference completed in under 2.5 seconds.</a:t>
            </a:r>
          </a:p>
          <a:p>
            <a:br>
              <a:rPr sz="1400" dirty="0"/>
            </a:br>
            <a:r>
              <a:rPr sz="1400" dirty="0">
                <a:latin typeface="Times New Roman"/>
              </a:rPr>
              <a:t>• Future upgrades include live webcam support.</a:t>
            </a:r>
            <a:br>
              <a:rPr sz="1400" dirty="0"/>
            </a:br>
            <a:r>
              <a:rPr sz="1400" dirty="0">
                <a:latin typeface="Times New Roman"/>
              </a:rPr>
              <a:t>• System can expand to multiple exercise categories.</a:t>
            </a:r>
          </a:p>
        </p:txBody>
      </p:sp>
      <p:pic>
        <p:nvPicPr>
          <p:cNvPr id="111" name="Picture 1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8578" y="4204623"/>
            <a:ext cx="7106124" cy="13689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Testing &amp; Validation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41546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400" dirty="0">
                <a:latin typeface="Times New Roman"/>
              </a:rPr>
              <a:t>• Tested edge cases like vertical alignment and cropped images.</a:t>
            </a: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400" dirty="0">
                <a:latin typeface="Times New Roman"/>
              </a:rPr>
              <a:t>• try/except blocks prevent application crashes.</a:t>
            </a:r>
          </a:p>
          <a:p>
            <a:r>
              <a:rPr sz="1400" dirty="0">
                <a:latin typeface="Times New Roman"/>
              </a:rPr>
              <a:t>• Non-image uploads rejected successfully.</a:t>
            </a:r>
          </a:p>
          <a:p>
            <a:r>
              <a:rPr sz="1400" dirty="0">
                <a:latin typeface="Times New Roman"/>
              </a:rPr>
              <a:t>• Robust error handling improved reliability.</a:t>
            </a:r>
            <a:endParaRPr lang="en-IN" sz="1400" dirty="0">
              <a:latin typeface="Times New Roman"/>
            </a:endParaRPr>
          </a:p>
          <a:p>
            <a:endParaRPr lang="en-IN" sz="1400" dirty="0">
              <a:latin typeface="Times New Roman"/>
            </a:endParaRPr>
          </a:p>
          <a:p>
            <a:endParaRPr lang="en-IN" sz="1400" dirty="0">
              <a:latin typeface="Times New Roman"/>
            </a:endParaRPr>
          </a:p>
          <a:p>
            <a:endParaRPr lang="en-IN" sz="1400" dirty="0">
              <a:latin typeface="Times New Roman"/>
            </a:endParaRPr>
          </a:p>
          <a:p>
            <a:endParaRPr lang="en-IN" sz="1400" dirty="0">
              <a:latin typeface="Times New Roman"/>
            </a:endParaRPr>
          </a:p>
          <a:p>
            <a:endParaRPr lang="en-IN" sz="1400" dirty="0">
              <a:latin typeface="Times New Roman"/>
            </a:endParaRPr>
          </a:p>
          <a:p>
            <a:endParaRPr lang="en-IN" sz="1400" dirty="0">
              <a:latin typeface="Times New Roman"/>
            </a:endParaRPr>
          </a:p>
          <a:p>
            <a:endParaRPr sz="1400" dirty="0">
              <a:latin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E55354-79DD-711A-4213-7C57E4DDA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3973" y="3027302"/>
            <a:ext cx="5319422" cy="23239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400" dirty="0">
                <a:latin typeface="Times New Roman"/>
              </a:rPr>
              <a:t>• </a:t>
            </a:r>
            <a:r>
              <a:rPr sz="1400" dirty="0" err="1">
                <a:latin typeface="Times New Roman"/>
              </a:rPr>
              <a:t>FitTrack</a:t>
            </a:r>
            <a:r>
              <a:rPr sz="1400" dirty="0">
                <a:latin typeface="Times New Roman"/>
              </a:rPr>
              <a:t> AI delivers privacy-preserving posture analysis.</a:t>
            </a: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400" dirty="0">
                <a:latin typeface="Times New Roman"/>
              </a:rPr>
              <a:t>• Euclidean geometry improves biomechanical accuracy.</a:t>
            </a:r>
          </a:p>
          <a:p>
            <a:r>
              <a:rPr sz="1400" dirty="0">
                <a:latin typeface="Times New Roman"/>
              </a:rPr>
              <a:t>• Fully local execution removes cloud dependency.</a:t>
            </a:r>
          </a:p>
          <a:p>
            <a:r>
              <a:rPr sz="1400" dirty="0">
                <a:latin typeface="Times New Roman"/>
              </a:rPr>
              <a:t>• Demonstrates practical AI-based fitness safety solution.</a:t>
            </a:r>
            <a:endParaRPr lang="en-IN" sz="1400" dirty="0">
              <a:latin typeface="Times New Roman"/>
            </a:endParaRPr>
          </a:p>
          <a:p>
            <a:endParaRPr lang="en-IN" sz="1400" dirty="0">
              <a:latin typeface="Times New Roman"/>
            </a:endParaRPr>
          </a:p>
          <a:p>
            <a:endParaRPr lang="en-IN" sz="1400" dirty="0">
              <a:latin typeface="Times New Roman"/>
            </a:endParaRPr>
          </a:p>
          <a:p>
            <a:endParaRPr lang="en-IN" sz="1400" dirty="0">
              <a:latin typeface="Times New Roman"/>
            </a:endParaRPr>
          </a:p>
          <a:p>
            <a:endParaRPr lang="en-IN" sz="1400" dirty="0">
              <a:latin typeface="Times New Roman"/>
            </a:endParaRPr>
          </a:p>
          <a:p>
            <a:endParaRPr sz="1400" dirty="0">
              <a:latin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633F69-120E-D3D3-66EF-3CE73B12AA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360" y="2834523"/>
            <a:ext cx="6050943" cy="249730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Future Scope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400" dirty="0">
                <a:latin typeface="Times New Roman"/>
              </a:rPr>
              <a:t>• Real-time webcam analysis using WebRTC.</a:t>
            </a: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400" dirty="0">
                <a:latin typeface="Times New Roman"/>
              </a:rPr>
              <a:t>• Automatic repetition counting.</a:t>
            </a:r>
          </a:p>
          <a:p>
            <a:r>
              <a:rPr sz="1400" dirty="0">
                <a:latin typeface="Times New Roman"/>
              </a:rPr>
              <a:t>• Support for upper-body exercises.</a:t>
            </a:r>
          </a:p>
          <a:p>
            <a:r>
              <a:rPr sz="1400" dirty="0">
                <a:latin typeface="Times New Roman"/>
              </a:rPr>
              <a:t>• Expansion toward multi-exercise posture monitoring.</a:t>
            </a:r>
            <a:endParaRPr lang="en-IN" sz="1400" dirty="0">
              <a:latin typeface="Times New Roman"/>
            </a:endParaRPr>
          </a:p>
          <a:p>
            <a:endParaRPr lang="en-IN" sz="1400" dirty="0">
              <a:latin typeface="Times New Roman"/>
            </a:endParaRPr>
          </a:p>
          <a:p>
            <a:endParaRPr lang="en-IN" sz="1400" dirty="0">
              <a:latin typeface="Times New Roman"/>
            </a:endParaRPr>
          </a:p>
          <a:p>
            <a:endParaRPr sz="1400" dirty="0">
              <a:latin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11E646-BD79-9434-5C33-9DD844759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52460"/>
            <a:ext cx="9144000" cy="240265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latin typeface="Times New Roman"/>
              </a:rPr>
              <a:t>References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6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sz="1400" dirty="0">
                <a:latin typeface="Times New Roman"/>
              </a:rPr>
              <a:t>• </a:t>
            </a:r>
            <a:r>
              <a:rPr sz="1400" dirty="0" err="1">
                <a:latin typeface="Times New Roman"/>
              </a:rPr>
              <a:t>MediaPipe</a:t>
            </a:r>
            <a:r>
              <a:rPr sz="1400" dirty="0">
                <a:latin typeface="Times New Roman"/>
              </a:rPr>
              <a:t> Pose – Real-time Human Pose Estimation.</a:t>
            </a: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sz="1400" dirty="0">
                <a:latin typeface="Times New Roman"/>
              </a:rPr>
              <a:t>• OpenCV Library Documentation.</a:t>
            </a:r>
          </a:p>
          <a:p>
            <a:r>
              <a:rPr sz="1400" dirty="0">
                <a:latin typeface="Times New Roman"/>
              </a:rPr>
              <a:t>• NumPy Scientific Computing.</a:t>
            </a:r>
          </a:p>
          <a:p>
            <a:r>
              <a:rPr sz="1400" dirty="0">
                <a:latin typeface="Times New Roman"/>
              </a:rPr>
              <a:t>• Python math module documentation.</a:t>
            </a:r>
          </a:p>
          <a:p>
            <a:r>
              <a:rPr sz="1400" dirty="0">
                <a:latin typeface="Times New Roman"/>
              </a:rPr>
              <a:t>• </a:t>
            </a:r>
            <a:r>
              <a:rPr sz="1400" dirty="0" err="1">
                <a:latin typeface="Times New Roman"/>
              </a:rPr>
              <a:t>Streamlit</a:t>
            </a:r>
            <a:r>
              <a:rPr sz="1400" dirty="0">
                <a:latin typeface="Times New Roman"/>
              </a:rPr>
              <a:t> Official Documentation.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35076</TotalTime>
  <Words>1048</Words>
  <Application>Microsoft Office PowerPoint</Application>
  <PresentationFormat>On-screen Show (4:3)</PresentationFormat>
  <Paragraphs>168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Harsh Raj</cp:lastModifiedBy>
  <cp:revision>2304</cp:revision>
  <dcterms:created xsi:type="dcterms:W3CDTF">2010-04-09T07:36:15Z</dcterms:created>
  <dcterms:modified xsi:type="dcterms:W3CDTF">2026-05-17T17:21:11Z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